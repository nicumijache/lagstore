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6"/>
  </p:notesMasterIdLst>
  <p:sldIdLst>
    <p:sldId id="256" r:id="rId2"/>
    <p:sldId id="257" r:id="rId3"/>
    <p:sldId id="267" r:id="rId4"/>
    <p:sldId id="260" r:id="rId5"/>
    <p:sldId id="272" r:id="rId6"/>
    <p:sldId id="273" r:id="rId7"/>
    <p:sldId id="271" r:id="rId8"/>
    <p:sldId id="268" r:id="rId9"/>
    <p:sldId id="274" r:id="rId10"/>
    <p:sldId id="277" r:id="rId11"/>
    <p:sldId id="278" r:id="rId12"/>
    <p:sldId id="276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15E6E-88C4-4417-A3ED-28E758D82C53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528345-E4F1-4FA3-846A-27CB2A492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11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8345-E4F1-4FA3-846A-27CB2A4921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37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55F6-628E-4C29-8182-5E861F2E7A89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8FED-1DCE-4537-A077-77D217EF6C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967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40535"/>
            <a:ext cx="10058400" cy="7626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1572" y="1335719"/>
            <a:ext cx="10058400" cy="40233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55F6-628E-4C29-8182-5E861F2E7A89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8FED-1DCE-4537-A077-77D217EF6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0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55F6-628E-4C29-8182-5E861F2E7A89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8FED-1DCE-4537-A077-77D217EF6C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436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55F6-628E-4C29-8182-5E861F2E7A89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8FED-1DCE-4537-A077-77D217EF6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6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55F6-628E-4C29-8182-5E861F2E7A89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8FED-1DCE-4537-A077-77D217EF6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98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55F6-628E-4C29-8182-5E861F2E7A89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8FED-1DCE-4537-A077-77D217EF6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55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55F6-628E-4C29-8182-5E861F2E7A89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8FED-1DCE-4537-A077-77D217EF6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73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08755F6-628E-4C29-8182-5E861F2E7A89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A98FED-1DCE-4537-A077-77D217EF6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8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55F6-628E-4C29-8182-5E861F2E7A89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8FED-1DCE-4537-A077-77D217EF6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5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55F6-628E-4C29-8182-5E861F2E7A89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8FED-1DCE-4537-A077-77D217EF6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6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55F6-628E-4C29-8182-5E861F2E7A89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8FED-1DCE-4537-A077-77D217EF6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55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21493"/>
            <a:ext cx="10058400" cy="7752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381441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08755F6-628E-4C29-8182-5E861F2E7A89}" type="datetimeFigureOut">
              <a:rPr lang="en-US" smtClean="0"/>
              <a:t>2026-10-03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0A98FED-1DCE-4537-A077-77D217EF6C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43000" y="1099218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15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bodi1406/vcredist/releases" TargetMode="External"/><Relationship Id="rId2" Type="http://schemas.openxmlformats.org/officeDocument/2006/relationships/hyperlink" Target="https://www.wampserver.com/e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cart.com/index.php?route=cms/download/history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tripe.com/docs/payments/quickstart" TargetMode="External"/><Relationship Id="rId2" Type="http://schemas.openxmlformats.org/officeDocument/2006/relationships/hyperlink" Target="https://stripe.com/docs/checkout/quickstar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content-based-vs-collaborative-filtering-difference/" TargetMode="External"/><Relationship Id="rId2" Type="http://schemas.openxmlformats.org/officeDocument/2006/relationships/hyperlink" Target="https://blog.hubspot.com/service/customer-profiling#cp-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ordstream.com/seo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x.org/search?q=e-commerce" TargetMode="External"/><Relationship Id="rId3" Type="http://schemas.openxmlformats.org/officeDocument/2006/relationships/hyperlink" Target="https://www.edx.org/" TargetMode="External"/><Relationship Id="rId7" Type="http://schemas.openxmlformats.org/officeDocument/2006/relationships/hyperlink" Target="https://www.futurelearn.com/search?q=e-commerce" TargetMode="External"/><Relationship Id="rId2" Type="http://schemas.openxmlformats.org/officeDocument/2006/relationships/hyperlink" Target="https://alison.com/courses?query=e-commer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demy.com/courses/search/?src=ukw&amp;q=e-commerce" TargetMode="External"/><Relationship Id="rId5" Type="http://schemas.openxmlformats.org/officeDocument/2006/relationships/hyperlink" Target="https://www.coursera.org/search?query=e-commerce&amp;" TargetMode="External"/><Relationship Id="rId10" Type="http://schemas.openxmlformats.org/officeDocument/2006/relationships/hyperlink" Target="https://www.khanacademy.org/" TargetMode="External"/><Relationship Id="rId4" Type="http://schemas.openxmlformats.org/officeDocument/2006/relationships/hyperlink" Target="https://alison.com/course/diploma-in-e-commerce-web-development" TargetMode="External"/><Relationship Id="rId9" Type="http://schemas.openxmlformats.org/officeDocument/2006/relationships/hyperlink" Target="https://ecommerce-platforms.com/articles/ecommerce-business-course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p10ecommercesitebuilders.com/" TargetMode="External"/><Relationship Id="rId7" Type="http://schemas.openxmlformats.org/officeDocument/2006/relationships/hyperlink" Target="https://woocommerce.com/" TargetMode="External"/><Relationship Id="rId2" Type="http://schemas.openxmlformats.org/officeDocument/2006/relationships/hyperlink" Target="https://www.g2.com/products/prestashop/competitors/alternativ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restashop.com/en" TargetMode="External"/><Relationship Id="rId5" Type="http://schemas.openxmlformats.org/officeDocument/2006/relationships/hyperlink" Target="https://www.opencart.com/" TargetMode="External"/><Relationship Id="rId4" Type="http://schemas.openxmlformats.org/officeDocument/2006/relationships/hyperlink" Target="https://www.top10.com/ecommer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2738336" y="2635791"/>
            <a:ext cx="6715328" cy="793209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Comert</a:t>
            </a: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Electronic: </a:t>
            </a:r>
            <a:r>
              <a:rPr lang="en-US" sz="40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</a:t>
            </a:r>
            <a:endParaRPr lang="en-US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37325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notare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Activitate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laborator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30%</a:t>
                </a:r>
              </a:p>
              <a:p>
                <a:pPr lvl="1">
                  <a:spcBef>
                    <a:spcPts val="500"/>
                  </a:spcBef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Realizarea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platformelor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laborator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30%</a:t>
                </a:r>
              </a:p>
              <a:p>
                <a:pPr lvl="1">
                  <a:spcBef>
                    <a:spcPts val="500"/>
                  </a:spcBef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Realizarea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temei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acasa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70%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Proiect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40%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Examen final</a:t>
                </a:r>
                <a:r>
                  <a:rPr 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30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</a:t>
                </a:r>
              </a:p>
              <a:p>
                <a:pPr>
                  <a:spcAft>
                    <a:spcPts val="1000"/>
                  </a:spcAft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Pentru a intra in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examenul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final nota de la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proiect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nota de la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laborator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trebuie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fie minim 5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𝑁𝑜𝑡𝑎𝐿𝑎𝑏𝑜𝑟𝑎𝑡𝑜𝑟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≥5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𝑠𝑎𝑢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𝑁𝑜𝑡𝑎𝑃𝑟𝑜𝑖𝑒𝑐𝑡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Bonusuri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500"/>
                  </a:spcBef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Realizarea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deosebita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activitatii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laborator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500"/>
                  </a:spcBef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Tema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laborator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dificultate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ridicata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500"/>
                  </a:spcBef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Participare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activa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laborator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121" b="-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Markin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4904" y="4179202"/>
            <a:ext cx="1750776" cy="174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46262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Prezenta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29002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dirty="0"/>
              <a:t>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laboratoare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Maxim 3 absente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Attendance matters grunge rubber stamp on white background, vector illustration Stock Vector - 961257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430" y="2747353"/>
            <a:ext cx="4286250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41024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Tematica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77642"/>
            <a:ext cx="7972829" cy="375739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 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se deprinda notiuni esentiale legate de anumite functionalitati de baza pentru o aplicatie de comert electronic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 laborator este necesar sa se dezvolte o tema pentru acasa individual, sau in echipe de 2 studenti pentru o tema mai complexa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t-IT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 de la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considerare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sustinerea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acasa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numarul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realizate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Alegerea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acasa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face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saptamana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III. Tema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confirmata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catre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cadrul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didactic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acasa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aleasa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maxim 2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studenti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aceeasi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subgrupa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 descr="Image result for prestasho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580" y="1935258"/>
            <a:ext cx="1420100" cy="1190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 result for opencart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6273" y="3125382"/>
            <a:ext cx="1739407" cy="1423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15906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Tematica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77645"/>
            <a:ext cx="7972829" cy="436110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Configurarea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e-commerce.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OpenCart.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Managementul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Checkout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cadrul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platilor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Stripe Checkout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Efectuarea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Stripe Payments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Crearea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recomandarea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produse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ML.NET.</a:t>
            </a:r>
          </a:p>
        </p:txBody>
      </p:sp>
      <p:pic>
        <p:nvPicPr>
          <p:cNvPr id="3080" name="Picture 8" descr="Image result for opencart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6273" y="1434249"/>
            <a:ext cx="1739407" cy="1423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tripe - WooCommerce">
            <a:extLst>
              <a:ext uri="{FF2B5EF4-FFF2-40B4-BE49-F238E27FC236}">
                <a16:creationId xmlns:a16="http://schemas.microsoft.com/office/drawing/2014/main" id="{3D1F58F7-8913-7F0B-ED48-375853B06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5667" y="2647935"/>
            <a:ext cx="1739407" cy="826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mprove Your Model's Performance and Accuracy with ML.NET's New Update | C#  411">
            <a:extLst>
              <a:ext uri="{FF2B5EF4-FFF2-40B4-BE49-F238E27FC236}">
                <a16:creationId xmlns:a16="http://schemas.microsoft.com/office/drawing/2014/main" id="{C0EC74ED-4CEB-DA0F-8A45-8844FEA95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259" y="3556354"/>
            <a:ext cx="2135433" cy="1423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0655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Tipuri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acasa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80363"/>
            <a:ext cx="10058400" cy="4203374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I.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Instalarea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e-commerce in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diferite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tehnologii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PrestaShop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OpenCart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etc.)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identificarea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locurilor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fac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modificari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schimbarea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designului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flow-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urilor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maxim nota 5.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01168" lvl="1" indent="0">
              <a:spcBef>
                <a:spcPts val="1000"/>
              </a:spcBef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II.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PayPal + 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bucata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cod functional care se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integreaza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cu PayPal  un call mockup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care se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construieste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cererea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primeste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raspunsul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 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conteaza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unde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vin 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datele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trimise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catre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procesator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nici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ce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 face cu </a:t>
            </a:r>
            <a:r>
              <a:rPr 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acele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date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).</a:t>
            </a:r>
          </a:p>
          <a:p>
            <a:pPr marL="201168" lvl="1" indent="0">
              <a:spcBef>
                <a:spcPts val="1000"/>
              </a:spcBef>
              <a:buNone/>
            </a:pPr>
            <a:r>
              <a:rPr 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Obs.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poate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prezenta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alta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metoda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plata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E.g. Google Pay,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BitPay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etc.</a:t>
            </a:r>
          </a:p>
          <a:p>
            <a:pPr marL="201168" lvl="1" indent="0">
              <a:spcBef>
                <a:spcPts val="1000"/>
              </a:spcBef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III.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Autentificare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JWT +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aplicatie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test</a:t>
            </a:r>
          </a:p>
          <a:p>
            <a:pPr marL="201168" lvl="1" indent="0">
              <a:spcBef>
                <a:spcPts val="1000"/>
              </a:spcBef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IV.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SEO +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aplicatie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test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72087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Tipuri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99818"/>
            <a:ext cx="10058400" cy="4203374"/>
          </a:xfrm>
        </p:spPr>
        <p:txBody>
          <a:bodyPr>
            <a:normAutofit fontScale="85000" lnSpcReduction="20000"/>
          </a:bodyPr>
          <a:lstStyle/>
          <a:p>
            <a:pPr marL="201168" lvl="1" indent="0"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V.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Construirea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unui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model al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clientului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+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aplicatie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test</a:t>
            </a:r>
          </a:p>
          <a:p>
            <a:pPr marL="201168" lvl="1" indent="0">
              <a:spcBef>
                <a:spcPts val="1000"/>
              </a:spcBef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VI.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Sistem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recomandare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+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aplicatie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test</a:t>
            </a:r>
          </a:p>
          <a:p>
            <a:pPr marL="201168" lvl="1" indent="0">
              <a:spcBef>
                <a:spcPts val="1000"/>
              </a:spcBef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VII.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Instalare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/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utilizare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Spring Boot +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aplicatie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test 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creare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baza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date, code base, un call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catre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baza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date)</a:t>
            </a:r>
          </a:p>
          <a:p>
            <a:pPr marL="201168" lvl="1" indent="0">
              <a:spcBef>
                <a:spcPts val="1000"/>
              </a:spcBef>
              <a:buNone/>
            </a:pPr>
            <a:r>
              <a:rPr lang="en-US" sz="2000" dirty="0">
                <a:sym typeface="Wingdings" panose="05000000000000000000" pitchFamily="2" charset="2"/>
              </a:rPr>
              <a:t>Tema VIII. </a:t>
            </a:r>
            <a:r>
              <a:rPr lang="en-US" sz="2000" dirty="0" err="1">
                <a:sym typeface="Wingdings" panose="05000000000000000000" pitchFamily="2" charset="2"/>
              </a:rPr>
              <a:t>Arhitectura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en-US" sz="2000" dirty="0" err="1">
                <a:sym typeface="Wingdings" panose="05000000000000000000" pitchFamily="2" charset="2"/>
              </a:rPr>
              <a:t>microservicii</a:t>
            </a:r>
            <a:r>
              <a:rPr lang="en-US" sz="2000" dirty="0">
                <a:sym typeface="Wingdings" panose="05000000000000000000" pitchFamily="2" charset="2"/>
              </a:rPr>
              <a:t>: </a:t>
            </a:r>
            <a:r>
              <a:rPr lang="en-US" sz="2000" dirty="0" err="1">
                <a:sym typeface="Wingdings" panose="05000000000000000000" pitchFamily="2" charset="2"/>
              </a:rPr>
              <a:t>Proiectarea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serviciilor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independente</a:t>
            </a:r>
            <a:r>
              <a:rPr lang="en-US" sz="2000" dirty="0">
                <a:sym typeface="Wingdings" panose="05000000000000000000" pitchFamily="2" charset="2"/>
              </a:rPr>
              <a:t> (</a:t>
            </a:r>
            <a:r>
              <a:rPr lang="en-US" sz="2000" dirty="0" err="1">
                <a:sym typeface="Wingdings" panose="05000000000000000000" pitchFamily="2" charset="2"/>
              </a:rPr>
              <a:t>Comenzi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en-US" sz="2000" dirty="0" err="1">
                <a:sym typeface="Wingdings" panose="05000000000000000000" pitchFamily="2" charset="2"/>
              </a:rPr>
              <a:t>Plăți</a:t>
            </a:r>
            <a:r>
              <a:rPr lang="en-US" sz="2000" dirty="0">
                <a:sym typeface="Wingdings" panose="05000000000000000000" pitchFamily="2" charset="2"/>
              </a:rPr>
              <a:t>) </a:t>
            </a:r>
            <a:r>
              <a:rPr lang="en-US" sz="2000" dirty="0" err="1">
                <a:sym typeface="Wingdings" panose="05000000000000000000" pitchFamily="2" charset="2"/>
              </a:rPr>
              <a:t>folosind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comunicare</a:t>
            </a:r>
            <a:r>
              <a:rPr lang="en-US" sz="2000" dirty="0">
                <a:sym typeface="Wingdings" panose="05000000000000000000" pitchFamily="2" charset="2"/>
              </a:rPr>
              <a:t> REST/</a:t>
            </a:r>
            <a:r>
              <a:rPr lang="en-US" sz="2000" dirty="0" err="1">
                <a:sym typeface="Wingdings" panose="05000000000000000000" pitchFamily="2" charset="2"/>
              </a:rPr>
              <a:t>gRPC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și</a:t>
            </a:r>
            <a:r>
              <a:rPr lang="en-US" sz="2000" dirty="0">
                <a:sym typeface="Wingdings" panose="05000000000000000000" pitchFamily="2" charset="2"/>
              </a:rPr>
              <a:t> event-driven messaging (Kafka/RabbitMQ). LA </a:t>
            </a:r>
            <a:r>
              <a:rPr lang="en-US" sz="2000" dirty="0" err="1">
                <a:sym typeface="Wingdings" panose="05000000000000000000" pitchFamily="2" charset="2"/>
              </a:rPr>
              <a:t>alegere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en-US" sz="2000" dirty="0" err="1">
                <a:sym typeface="Wingdings" panose="05000000000000000000" pitchFamily="2" charset="2"/>
              </a:rPr>
              <a:t>una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dintre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ele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</a:p>
          <a:p>
            <a:pPr marL="201168" lvl="1" indent="0">
              <a:spcBef>
                <a:spcPts val="10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Tema IX.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Conconcurența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stocurilor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la Flash-Sales: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Implementarea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mecanismelor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blocare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optimistă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și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pesimistă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în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baza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date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pentru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preveni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supravânzarea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în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momentul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unor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reduceri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masive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marL="201168" lvl="1" indent="0">
              <a:spcBef>
                <a:spcPts val="10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Tema X. </a:t>
            </a:r>
            <a:r>
              <a:rPr lang="en-US" sz="2000" b="1" dirty="0" err="1"/>
              <a:t>Căutare</a:t>
            </a:r>
            <a:r>
              <a:rPr lang="en-US" sz="2000" b="1" dirty="0"/>
              <a:t> </a:t>
            </a:r>
            <a:r>
              <a:rPr lang="en-US" sz="2000" b="1" dirty="0" err="1"/>
              <a:t>produse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Construirea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motor de </a:t>
            </a:r>
            <a:r>
              <a:rPr lang="en-US" sz="2000" dirty="0" err="1"/>
              <a:t>căutare</a:t>
            </a:r>
            <a:r>
              <a:rPr lang="en-US" sz="2000" dirty="0"/>
              <a:t> performant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produse</a:t>
            </a:r>
            <a:r>
              <a:rPr lang="en-US" sz="2000" dirty="0"/>
              <a:t> </a:t>
            </a:r>
            <a:r>
              <a:rPr lang="en-US" sz="2000" dirty="0" err="1"/>
              <a:t>utilizând</a:t>
            </a:r>
            <a:r>
              <a:rPr lang="en-US" sz="2000" dirty="0"/>
              <a:t> Elasticsearch 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dirty="0" err="1"/>
              <a:t>căutare</a:t>
            </a:r>
            <a:r>
              <a:rPr lang="en-US" sz="2000" dirty="0"/>
              <a:t> full-text cu </a:t>
            </a:r>
            <a:r>
              <a:rPr lang="en-US" sz="2000" dirty="0" err="1"/>
              <a:t>filtrare</a:t>
            </a:r>
            <a:r>
              <a:rPr lang="en-US" sz="2000" dirty="0"/>
              <a:t> </a:t>
            </a:r>
            <a:r>
              <a:rPr lang="en-US" sz="2000" dirty="0" err="1"/>
              <a:t>dinamică</a:t>
            </a:r>
            <a:r>
              <a:rPr lang="en-US" sz="2000" dirty="0"/>
              <a:t> </a:t>
            </a:r>
            <a:r>
              <a:rPr lang="en-US" sz="2000" dirty="0" err="1"/>
              <a:t>după</a:t>
            </a:r>
            <a:r>
              <a:rPr lang="en-US" sz="2000" dirty="0"/>
              <a:t> </a:t>
            </a:r>
            <a:r>
              <a:rPr lang="en-US" sz="2000" dirty="0" err="1"/>
              <a:t>atribute</a:t>
            </a:r>
            <a:r>
              <a:rPr lang="en-US" sz="2000" dirty="0"/>
              <a:t> multiple.</a:t>
            </a:r>
          </a:p>
          <a:p>
            <a:pPr marL="201168" lvl="1" indent="0">
              <a:spcBef>
                <a:spcPts val="1000"/>
              </a:spcBef>
              <a:buNone/>
            </a:pPr>
            <a:r>
              <a:rPr lang="en-US" sz="2000" b="1" dirty="0"/>
              <a:t>Tema XI. </a:t>
            </a:r>
            <a:r>
              <a:rPr lang="en-US" sz="2000" b="1" dirty="0" err="1"/>
              <a:t>Sistem</a:t>
            </a:r>
            <a:r>
              <a:rPr lang="en-US" sz="2000" b="1" dirty="0"/>
              <a:t> de </a:t>
            </a:r>
            <a:r>
              <a:rPr lang="en-US" sz="2000" b="1" dirty="0" err="1"/>
              <a:t>detectare</a:t>
            </a:r>
            <a:r>
              <a:rPr lang="en-US" sz="2000" b="1" dirty="0"/>
              <a:t> a </a:t>
            </a:r>
            <a:r>
              <a:rPr lang="en-US" sz="2000" b="1" dirty="0" err="1"/>
              <a:t>fraudelor</a:t>
            </a:r>
            <a:r>
              <a:rPr lang="en-US" sz="2000" b="1" dirty="0"/>
              <a:t> (Fraud Detection):</a:t>
            </a:r>
            <a:r>
              <a:rPr lang="en-US" sz="2000" dirty="0"/>
              <a:t> </a:t>
            </a:r>
            <a:r>
              <a:rPr lang="en-US" sz="2000" dirty="0" err="1"/>
              <a:t>Dezvoltarea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motor de reguli </a:t>
            </a:r>
            <a:r>
              <a:rPr lang="en-US" sz="2000" dirty="0" err="1"/>
              <a:t>bazat</a:t>
            </a:r>
            <a:r>
              <a:rPr lang="en-US" sz="2000" dirty="0"/>
              <a:t> pe </a:t>
            </a:r>
            <a:r>
              <a:rPr lang="en-US" sz="2000" dirty="0" err="1"/>
              <a:t>fluxuri</a:t>
            </a:r>
            <a:r>
              <a:rPr lang="en-US" sz="2000" dirty="0"/>
              <a:t> de date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timp</a:t>
            </a:r>
            <a:r>
              <a:rPr lang="en-US" sz="2000" dirty="0"/>
              <a:t> real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identificarea</a:t>
            </a:r>
            <a:r>
              <a:rPr lang="en-US" sz="2000" dirty="0"/>
              <a:t> </a:t>
            </a:r>
            <a:r>
              <a:rPr lang="en-US" sz="2000" dirty="0" err="1"/>
              <a:t>tranzacțiilor</a:t>
            </a:r>
            <a:r>
              <a:rPr lang="en-US" sz="2000" dirty="0"/>
              <a:t> </a:t>
            </a:r>
            <a:r>
              <a:rPr lang="en-US" sz="2000" dirty="0" err="1"/>
              <a:t>suspecte</a:t>
            </a:r>
            <a:r>
              <a:rPr lang="en-US" sz="2000" dirty="0"/>
              <a:t> (</a:t>
            </a:r>
            <a:r>
              <a:rPr lang="en-US" sz="2000" dirty="0" err="1"/>
              <a:t>geolocație</a:t>
            </a:r>
            <a:r>
              <a:rPr lang="en-US" sz="2000" dirty="0"/>
              <a:t>, </a:t>
            </a:r>
            <a:r>
              <a:rPr lang="en-US" sz="2000" dirty="0" err="1"/>
              <a:t>anomalii</a:t>
            </a:r>
            <a:r>
              <a:rPr lang="en-US" sz="2000" dirty="0"/>
              <a:t> de </a:t>
            </a:r>
            <a:r>
              <a:rPr lang="en-US" sz="2000" dirty="0" err="1"/>
              <a:t>comportament</a:t>
            </a:r>
            <a:r>
              <a:rPr lang="en-US" sz="2000" dirty="0"/>
              <a:t>, </a:t>
            </a:r>
            <a:r>
              <a:rPr lang="en-US" sz="2000" dirty="0" err="1"/>
              <a:t>scor</a:t>
            </a:r>
            <a:r>
              <a:rPr lang="en-US" sz="2000" dirty="0"/>
              <a:t> de </a:t>
            </a:r>
            <a:r>
              <a:rPr lang="en-US" sz="2000" dirty="0" err="1"/>
              <a:t>risc</a:t>
            </a:r>
            <a:r>
              <a:rPr lang="en-US" sz="2000" dirty="0"/>
              <a:t>).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01168" lvl="1" indent="0">
              <a:spcBef>
                <a:spcPts val="1000"/>
              </a:spcBef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Tema XII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Tema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propusa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catre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student.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59634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Sustinerea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acasa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13321"/>
            <a:ext cx="7972829" cy="42096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Tema se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sustine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oricand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cel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tarziu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saptamana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XI. Ulterior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penalizare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2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puncte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saptamana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intarziere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Tema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compusa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 2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obligatorii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parte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teoretica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(e.g.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prezentare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PowerPoint, document Word, etc.): 30%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parte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practica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exemplu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aplicatie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/ demo: 70%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cazul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temelor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echipa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sustina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parte din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prezentare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precizeze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aportul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realizarea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temei</a:t>
            </a:r>
            <a:endParaRPr lang="it-I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Pentru neprezentarea temei nota este 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 descr="Image result for prestasho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580" y="2606471"/>
            <a:ext cx="1420100" cy="1190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mage result for magento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580" y="1416347"/>
            <a:ext cx="1342019" cy="1342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 result for opencart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6273" y="3796595"/>
            <a:ext cx="1739407" cy="1423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33361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dezvoltare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19280"/>
            <a:ext cx="8257027" cy="43611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WAMPSERVER: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EAC1C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https://www.wampserver.com/en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Cerinte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instalare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putea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WAMPSERVER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aveti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VC Packages x64 (64bits) / x86 (32 bits)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https://github.com/abbodi1406/vcredist/releases</a:t>
            </a:r>
            <a:endParaRPr lang="en-US" sz="1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VisualCppRedist_AIO_x86_x64.exe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 64 bits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VisualCppRedist_AIO_x86only.exe 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 32 bits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it-IT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 instalati 2 versiuni diferite de WAMPSERVER pe calculator in acelasi timp!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860865-B744-734E-8E58-DC71B3C75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0059" y="4482830"/>
            <a:ext cx="1275621" cy="127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17923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dezvoltare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10421"/>
            <a:ext cx="7972829" cy="4361102"/>
          </a:xfrm>
        </p:spPr>
        <p:txBody>
          <a:bodyPr>
            <a:normAutofit/>
          </a:bodyPr>
          <a:lstStyle/>
          <a:p>
            <a:pPr marL="0" indent="0">
              <a:spcBef>
                <a:spcPts val="3600"/>
              </a:spcBef>
              <a:buNone/>
            </a:pP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https://code.visualstudio.com/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3000"/>
              </a:spcBef>
              <a:buNone/>
            </a:pP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OpenCart (</a:t>
            </a:r>
            <a:r>
              <a:rPr lang="en-US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versiunea</a:t>
            </a: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4.1.0.3)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https://www.opencart.com/index.php?route=cms/download/history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F467DC1-E6E4-8B31-49CD-D44E5BE3E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459" y="3492137"/>
            <a:ext cx="3278221" cy="64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1F2F4E5D-AD69-30F0-40D3-AF9373136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9908" y="1631725"/>
            <a:ext cx="1235978" cy="123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58089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dezvoltare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41452"/>
            <a:ext cx="7972829" cy="436110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Stripe Checkout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2"/>
              </a:rPr>
              <a:t>https://stripe.com/docs/checkout/quickstart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544068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selecteaza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HTML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pentru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partea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frontend </a:t>
            </a:r>
            <a:endParaRPr lang="en-US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544068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selecteaza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PHP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pentru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partea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backend </a:t>
            </a:r>
            <a:endParaRPr lang="en-US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544068" lvl="1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 face click pe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Download full app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pentru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descarca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proiectul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spcBef>
                <a:spcPts val="3000"/>
              </a:spcBef>
              <a:buNone/>
            </a:pP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Stripe Payments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3"/>
              </a:rPr>
              <a:t>https://stripe.com/docs/payments/quickstart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544068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selecteaza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JavaScript SDK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arhitectura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544068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selecteaza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HTML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pentru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partea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frontend </a:t>
            </a:r>
          </a:p>
          <a:p>
            <a:pPr marL="544068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selecteaza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PHP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pentru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partea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de backend </a:t>
            </a:r>
          </a:p>
          <a:p>
            <a:pPr marL="544068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 face click pe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Download full app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pentru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descarca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proiectul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tripe Logo in SVG Vector or PNG File Format - Logo.wine">
            <a:extLst>
              <a:ext uri="{FF2B5EF4-FFF2-40B4-BE49-F238E27FC236}">
                <a16:creationId xmlns:a16="http://schemas.microsoft.com/office/drawing/2014/main" id="{A439C545-630B-35E4-678C-7F79ADE76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251" y="4857994"/>
            <a:ext cx="1904429" cy="126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73122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Resurse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94729"/>
            <a:ext cx="7972829" cy="43611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Construirea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al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clientului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https://blog.hubspot.com/service/customer-profiling#cp-data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2400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 vs Collaborative Filtering: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https://www.geeksforgeeks.org/machine-learning/content-based-vs-collaborative-filtering-difference/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2400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 Optimization (SEO):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https://www.wordstream.com/seo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2400"/>
              </a:spcBef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0764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Cursuri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51182"/>
            <a:ext cx="10058400" cy="40233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https://alison.com/courses?query=e-commerce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https://alison.com/course/diploma-in-e-commerce-web-development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https://www.coursera.org/search?query=e-commerce&amp;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https://www.udemy.com/courses/search/?src=ukw&amp;q=e-commerce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https://www.futurelearn.com/search?q=e-commerce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https://www.edx.org/search?q=e-commerce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https://ecommerce-platforms.com/articles/ecommerce-business-courses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https://www.khanacademy.org/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41219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51181"/>
            <a:ext cx="10058400" cy="40233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https://www.g2.com/products/prestashop/competitors/alternatives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https://www.top10.com/ecommerce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https://www.opencart.com/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https://www.prestashop.com/en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https://woocommerce.com/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91690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883</TotalTime>
  <Words>1115</Words>
  <Application>Microsoft Office PowerPoint</Application>
  <PresentationFormat>Widescreen</PresentationFormat>
  <Paragraphs>99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Cambria Math</vt:lpstr>
      <vt:lpstr>Courier New</vt:lpstr>
      <vt:lpstr>Times New Roman</vt:lpstr>
      <vt:lpstr>Wingdings</vt:lpstr>
      <vt:lpstr>Retrospect</vt:lpstr>
      <vt:lpstr>Comert Electronic: Laborator</vt:lpstr>
      <vt:lpstr>Metrici de notare</vt:lpstr>
      <vt:lpstr>Prezenta laborator</vt:lpstr>
      <vt:lpstr>Tematica de laborator</vt:lpstr>
      <vt:lpstr>Tematica de laborator</vt:lpstr>
      <vt:lpstr>Tipuri de teme pentru acasa</vt:lpstr>
      <vt:lpstr>Tipuri de teme</vt:lpstr>
      <vt:lpstr>Sustinerea temei pentru acasa</vt:lpstr>
      <vt:lpstr>Mediu de dezvoltare</vt:lpstr>
      <vt:lpstr>Mediu de dezvoltare</vt:lpstr>
      <vt:lpstr>Mediu de dezvoltare</vt:lpstr>
      <vt:lpstr>Resurse utile</vt:lpstr>
      <vt:lpstr>Cursuri E-Commerce</vt:lpstr>
      <vt:lpstr>Platforme E-Commerce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Comert Electronic</dc:title>
  <dc:creator>Gabriel Badea</dc:creator>
  <cp:lastModifiedBy>Catalin Cerbulescu</cp:lastModifiedBy>
  <cp:revision>530</cp:revision>
  <dcterms:created xsi:type="dcterms:W3CDTF">2018-10-04T12:34:44Z</dcterms:created>
  <dcterms:modified xsi:type="dcterms:W3CDTF">2026-10-03T12:29:22Z</dcterms:modified>
</cp:coreProperties>
</file>